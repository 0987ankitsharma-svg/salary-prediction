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ntitled Section" id="{214669BD-0A24-4BBD-ADA5-7E70AFE90739}">
          <p14:sldIdLst>
            <p14:sldId id="256"/>
            <p14:sldId id="257"/>
            <p14:sldId id="258"/>
            <p14:sldId id="259"/>
            <p14:sldId id="260"/>
            <p14:sldId id="261"/>
            <p14:sldId id="262"/>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5033" autoAdjust="0"/>
  </p:normalViewPr>
  <p:slideViewPr>
    <p:cSldViewPr snapToGrid="0">
      <p:cViewPr varScale="1">
        <p:scale>
          <a:sx n="78" d="100"/>
          <a:sy n="78" d="100"/>
        </p:scale>
        <p:origin x="87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7B0799E-D763-4AC1-B885-8F858FB56C71}" type="datetimeFigureOut">
              <a:rPr lang="en-IN" smtClean="0"/>
              <a:t>15-11-2025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D78370-DD6B-47F8-8321-AEFC38A40166}" type="slidenum">
              <a:rPr lang="en-IN" smtClean="0"/>
              <a:t>‹#›</a:t>
            </a:fld>
            <a:endParaRPr lang="en-IN"/>
          </a:p>
        </p:txBody>
      </p:sp>
    </p:spTree>
    <p:extLst>
      <p:ext uri="{BB962C8B-B14F-4D97-AF65-F5344CB8AC3E}">
        <p14:creationId xmlns:p14="http://schemas.microsoft.com/office/powerpoint/2010/main" val="222198517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AD78370-DD6B-47F8-8321-AEFC38A40166}" type="slidenum">
              <a:rPr lang="en-IN" smtClean="0"/>
              <a:t>1</a:t>
            </a:fld>
            <a:endParaRPr lang="en-IN"/>
          </a:p>
        </p:txBody>
      </p:sp>
    </p:spTree>
    <p:extLst>
      <p:ext uri="{BB962C8B-B14F-4D97-AF65-F5344CB8AC3E}">
        <p14:creationId xmlns:p14="http://schemas.microsoft.com/office/powerpoint/2010/main" val="28985686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242851"/>
            <a:ext cx="8968084" cy="275942"/>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111716" y="4243845"/>
            <a:ext cx="3077108" cy="276940"/>
          </a:xfrm>
          <a:prstGeom prst="rect">
            <a:avLst/>
          </a:prstGeom>
        </p:spPr>
      </p:pic>
      <p:sp>
        <p:nvSpPr>
          <p:cNvPr id="9" name="Rectangle 8"/>
          <p:cNvSpPr/>
          <p:nvPr/>
        </p:nvSpPr>
        <p:spPr bwMode="ltGray">
          <a:xfrm>
            <a:off x="0" y="2590078"/>
            <a:ext cx="8968085" cy="1660332"/>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9111715" y="2590078"/>
            <a:ext cx="3077109" cy="166033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680322" y="2733709"/>
            <a:ext cx="8144134" cy="1373070"/>
          </a:xfrm>
        </p:spPr>
        <p:txBody>
          <a:bodyPr anchor="b">
            <a:noAutofit/>
          </a:bodyPr>
          <a:lstStyle>
            <a:lvl1pPr algn="r">
              <a:defRPr sz="5400"/>
            </a:lvl1pPr>
          </a:lstStyle>
          <a:p>
            <a:r>
              <a:rPr lang="en-US"/>
              <a:t>Click to edit Master title style</a:t>
            </a:r>
            <a:endParaRPr lang="en-US" dirty="0"/>
          </a:p>
        </p:txBody>
      </p:sp>
      <p:sp>
        <p:nvSpPr>
          <p:cNvPr id="3" name="Subtitle 2"/>
          <p:cNvSpPr>
            <a:spLocks noGrp="1"/>
          </p:cNvSpPr>
          <p:nvPr>
            <p:ph type="subTitle" idx="1"/>
          </p:nvPr>
        </p:nvSpPr>
        <p:spPr>
          <a:xfrm>
            <a:off x="680322" y="4394039"/>
            <a:ext cx="8144134" cy="1117687"/>
          </a:xfrm>
        </p:spPr>
        <p:txBody>
          <a:bodyPr>
            <a:normAutofit/>
          </a:bodyPr>
          <a:lstStyle>
            <a:lvl1pPr marL="0" indent="0" algn="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CAE929F4-875E-444A-8433-BB6FEBE15AE0}" type="datetimeFigureOut">
              <a:rPr lang="en-IN" smtClean="0"/>
              <a:t>15-11-2025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9255346" y="2750337"/>
            <a:ext cx="1171888" cy="1356442"/>
          </a:xfrm>
        </p:spPr>
        <p:txBody>
          <a:bodyPr/>
          <a:lstStyle/>
          <a:p>
            <a:fld id="{2DC6B436-1E3E-44DE-9FA7-D701B7E76392}" type="slidenum">
              <a:rPr lang="en-IN" smtClean="0"/>
              <a:t>‹#›</a:t>
            </a:fld>
            <a:endParaRPr lang="en-IN"/>
          </a:p>
        </p:txBody>
      </p:sp>
    </p:spTree>
    <p:extLst>
      <p:ext uri="{BB962C8B-B14F-4D97-AF65-F5344CB8AC3E}">
        <p14:creationId xmlns:p14="http://schemas.microsoft.com/office/powerpoint/2010/main" val="24635541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E929F4-875E-444A-8433-BB6FEBE15AE0}" type="datetimeFigureOut">
              <a:rPr lang="en-IN" smtClean="0"/>
              <a:t>15-11-2025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C6B436-1E3E-44DE-9FA7-D701B7E76392}" type="slidenum">
              <a:rPr lang="en-IN" smtClean="0"/>
              <a:t>‹#›</a:t>
            </a:fld>
            <a:endParaRPr lang="en-IN"/>
          </a:p>
        </p:txBody>
      </p:sp>
    </p:spTree>
    <p:extLst>
      <p:ext uri="{BB962C8B-B14F-4D97-AF65-F5344CB8AC3E}">
        <p14:creationId xmlns:p14="http://schemas.microsoft.com/office/powerpoint/2010/main" val="32448458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4086907"/>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4" y="4087901"/>
            <a:ext cx="1602997" cy="144270"/>
          </a:xfrm>
          <a:prstGeom prst="rect">
            <a:avLst/>
          </a:prstGeom>
        </p:spPr>
      </p:pic>
      <p:sp>
        <p:nvSpPr>
          <p:cNvPr id="9" name="Rectangle 8"/>
          <p:cNvSpPr/>
          <p:nvPr/>
        </p:nvSpPr>
        <p:spPr bwMode="ltGray">
          <a:xfrm>
            <a:off x="-2" y="2726267"/>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5" y="2726267"/>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2869895"/>
            <a:ext cx="9613860" cy="1090788"/>
          </a:xfrm>
        </p:spPr>
        <p:txBody>
          <a:bodyPr anchor="ctr">
            <a:normAutofit/>
          </a:bodyPr>
          <a:lstStyle>
            <a:lvl1pPr algn="r">
              <a:defRPr sz="3600"/>
            </a:lvl1pPr>
          </a:lstStyle>
          <a:p>
            <a:r>
              <a:rPr lang="en-US"/>
              <a:t>Click to edit Master title style</a:t>
            </a:r>
            <a:endParaRPr lang="en-US" dirty="0"/>
          </a:p>
        </p:txBody>
      </p:sp>
      <p:sp>
        <p:nvSpPr>
          <p:cNvPr id="3" name="Text Placeholder 2"/>
          <p:cNvSpPr>
            <a:spLocks noGrp="1"/>
          </p:cNvSpPr>
          <p:nvPr>
            <p:ph type="body" idx="1"/>
          </p:nvPr>
        </p:nvSpPr>
        <p:spPr>
          <a:xfrm>
            <a:off x="680322" y="4232171"/>
            <a:ext cx="9613860" cy="1704017"/>
          </a:xfrm>
        </p:spPr>
        <p:txBody>
          <a:bodyPr>
            <a:normAutofit/>
          </a:bodyPr>
          <a:lstStyle>
            <a:lvl1pPr marL="0" indent="0" algn="r">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929F4-875E-444A-8433-BB6FEBE15AE0}" type="datetimeFigureOut">
              <a:rPr lang="en-IN" smtClean="0"/>
              <a:t>15-11-2025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a:xfrm>
            <a:off x="10729455" y="2869895"/>
            <a:ext cx="1154151" cy="1090789"/>
          </a:xfrm>
        </p:spPr>
        <p:txBody>
          <a:bodyPr/>
          <a:lstStyle/>
          <a:p>
            <a:fld id="{2DC6B436-1E3E-44DE-9FA7-D701B7E76392}" type="slidenum">
              <a:rPr lang="en-IN" smtClean="0"/>
              <a:t>‹#›</a:t>
            </a:fld>
            <a:endParaRPr lang="en-IN"/>
          </a:p>
        </p:txBody>
      </p:sp>
    </p:spTree>
    <p:extLst>
      <p:ext uri="{BB962C8B-B14F-4D97-AF65-F5344CB8AC3E}">
        <p14:creationId xmlns:p14="http://schemas.microsoft.com/office/powerpoint/2010/main" val="20061626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0320" y="2336873"/>
            <a:ext cx="46983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594123" y="2336873"/>
            <a:ext cx="4700058" cy="359931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CAE929F4-875E-444A-8433-BB6FEBE15AE0}" type="datetimeFigureOut">
              <a:rPr lang="en-IN" smtClean="0"/>
              <a:t>15-11-2025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C6B436-1E3E-44DE-9FA7-D701B7E76392}" type="slidenum">
              <a:rPr lang="en-IN" smtClean="0"/>
              <a:t>‹#›</a:t>
            </a:fld>
            <a:endParaRPr lang="en-IN"/>
          </a:p>
        </p:txBody>
      </p:sp>
    </p:spTree>
    <p:extLst>
      <p:ext uri="{BB962C8B-B14F-4D97-AF65-F5344CB8AC3E}">
        <p14:creationId xmlns:p14="http://schemas.microsoft.com/office/powerpoint/2010/main" val="55975872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0" name="Picture 9"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1" name="Picture 10"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2" name="Rectangle 11"/>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3" name="Rectangle 12"/>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753229"/>
            <a:ext cx="9613863" cy="1080937"/>
          </a:xfrm>
        </p:spPr>
        <p:txBody>
          <a:bodyPr/>
          <a:lstStyle/>
          <a:p>
            <a:r>
              <a:rPr lang="en-US"/>
              <a:t>Click to edit Master title style</a:t>
            </a:r>
            <a:endParaRPr lang="en-US" dirty="0"/>
          </a:p>
        </p:txBody>
      </p:sp>
      <p:sp>
        <p:nvSpPr>
          <p:cNvPr id="3" name="Text Placeholder 2"/>
          <p:cNvSpPr>
            <a:spLocks noGrp="1"/>
          </p:cNvSpPr>
          <p:nvPr>
            <p:ph type="body" idx="1"/>
          </p:nvPr>
        </p:nvSpPr>
        <p:spPr>
          <a:xfrm>
            <a:off x="906350" y="2336873"/>
            <a:ext cx="4472327" cy="693135"/>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0322" y="3030008"/>
            <a:ext cx="4698355"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820154" y="2336873"/>
            <a:ext cx="4474028" cy="692076"/>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594123" y="3030008"/>
            <a:ext cx="4700059" cy="290617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CAE929F4-875E-444A-8433-BB6FEBE15AE0}" type="datetimeFigureOut">
              <a:rPr lang="en-IN" smtClean="0"/>
              <a:t>15-11-2025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2DC6B436-1E3E-44DE-9FA7-D701B7E76392}" type="slidenum">
              <a:rPr lang="en-IN" smtClean="0"/>
              <a:t>‹#›</a:t>
            </a:fld>
            <a:endParaRPr lang="en-IN"/>
          </a:p>
        </p:txBody>
      </p:sp>
    </p:spTree>
    <p:extLst>
      <p:ext uri="{BB962C8B-B14F-4D97-AF65-F5344CB8AC3E}">
        <p14:creationId xmlns:p14="http://schemas.microsoft.com/office/powerpoint/2010/main" val="1049067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6" name="Picture 5"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7" name="Picture 6"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8" name="Rectangle 7"/>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CAE929F4-875E-444A-8433-BB6FEBE15AE0}" type="datetimeFigureOut">
              <a:rPr lang="en-IN" smtClean="0"/>
              <a:t>15-11-2025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DC6B436-1E3E-44DE-9FA7-D701B7E76392}" type="slidenum">
              <a:rPr lang="en-IN" smtClean="0"/>
              <a:t>‹#›</a:t>
            </a:fld>
            <a:endParaRPr lang="en-IN"/>
          </a:p>
        </p:txBody>
      </p:sp>
    </p:spTree>
    <p:extLst>
      <p:ext uri="{BB962C8B-B14F-4D97-AF65-F5344CB8AC3E}">
        <p14:creationId xmlns:p14="http://schemas.microsoft.com/office/powerpoint/2010/main" val="256778600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5" name="Picture 4" descr="HD-ShadowShort.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6" name="Rectangle 5"/>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Date Placeholder 1"/>
          <p:cNvSpPr>
            <a:spLocks noGrp="1"/>
          </p:cNvSpPr>
          <p:nvPr>
            <p:ph type="dt" sz="half" idx="10"/>
          </p:nvPr>
        </p:nvSpPr>
        <p:spPr/>
        <p:txBody>
          <a:bodyPr/>
          <a:lstStyle/>
          <a:p>
            <a:fld id="{CAE929F4-875E-444A-8433-BB6FEBE15AE0}" type="datetimeFigureOut">
              <a:rPr lang="en-IN" smtClean="0"/>
              <a:t>15-11-2025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2DC6B436-1E3E-44DE-9FA7-D701B7E76392}" type="slidenum">
              <a:rPr lang="en-IN" smtClean="0"/>
              <a:t>‹#›</a:t>
            </a:fld>
            <a:endParaRPr lang="en-IN"/>
          </a:p>
        </p:txBody>
      </p:sp>
    </p:spTree>
    <p:extLst>
      <p:ext uri="{BB962C8B-B14F-4D97-AF65-F5344CB8AC3E}">
        <p14:creationId xmlns:p14="http://schemas.microsoft.com/office/powerpoint/2010/main" val="19518811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1" y="753227"/>
            <a:ext cx="9613859" cy="1080940"/>
          </a:xfrm>
        </p:spPr>
        <p:txBody>
          <a:bodyPr anchor="ct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a:xfrm>
            <a:off x="4685846" y="2336873"/>
            <a:ext cx="5608336" cy="359931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0322" y="2336872"/>
            <a:ext cx="3790078" cy="3599317"/>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AE929F4-875E-444A-8433-BB6FEBE15AE0}" type="datetimeFigureOut">
              <a:rPr lang="en-IN" smtClean="0"/>
              <a:t>15-11-2025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C6B436-1E3E-44DE-9FA7-D701B7E76392}" type="slidenum">
              <a:rPr lang="en-IN" smtClean="0"/>
              <a:t>‹#›</a:t>
            </a:fld>
            <a:endParaRPr lang="en-IN"/>
          </a:p>
        </p:txBody>
      </p:sp>
    </p:spTree>
    <p:extLst>
      <p:ext uri="{BB962C8B-B14F-4D97-AF65-F5344CB8AC3E}">
        <p14:creationId xmlns:p14="http://schemas.microsoft.com/office/powerpoint/2010/main" val="27718094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0" name="Rectangle 9"/>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3" y="753228"/>
            <a:ext cx="9613857" cy="1080938"/>
          </a:xfrm>
        </p:spPr>
        <p:txBody>
          <a:bodyPr anchor="ctr">
            <a:normAutofit/>
          </a:bodyPr>
          <a:lstStyle>
            <a:lvl1pPr>
              <a:defRPr sz="36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868333" y="2336874"/>
            <a:ext cx="5425849" cy="3599312"/>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23" y="2336873"/>
            <a:ext cx="3876256" cy="3599315"/>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AE929F4-875E-444A-8433-BB6FEBE15AE0}" type="datetimeFigureOut">
              <a:rPr lang="en-IN" smtClean="0"/>
              <a:t>15-11-2025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2DC6B436-1E3E-44DE-9FA7-D701B7E76392}" type="slidenum">
              <a:rPr lang="en-IN" smtClean="0"/>
              <a:t>‹#›</a:t>
            </a:fld>
            <a:endParaRPr lang="en-IN"/>
          </a:p>
        </p:txBody>
      </p:sp>
    </p:spTree>
    <p:extLst>
      <p:ext uri="{BB962C8B-B14F-4D97-AF65-F5344CB8AC3E}">
        <p14:creationId xmlns:p14="http://schemas.microsoft.com/office/powerpoint/2010/main" val="80209632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4711616"/>
            <a:ext cx="9613859" cy="453051"/>
          </a:xfrm>
        </p:spPr>
        <p:txBody>
          <a:bodyPr anchor="b">
            <a:normAutofit/>
          </a:bodyPr>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680322" y="609597"/>
            <a:ext cx="9613859" cy="3589575"/>
          </a:xfrm>
          <a:noFill/>
          <a:ln>
            <a:noFill/>
          </a:ln>
          <a:effectLst>
            <a:outerShdw blurRad="76200" dist="63500" dir="5040000" algn="tl" rotWithShape="0">
              <a:srgbClr val="000000">
                <a:alpha val="41000"/>
              </a:srgb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0319" y="5169583"/>
            <a:ext cx="9613862" cy="622971"/>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AE929F4-875E-444A-8433-BB6FEBE15AE0}" type="datetimeFigureOut">
              <a:rPr lang="en-IN" smtClean="0"/>
              <a:t>15-11-2025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11309"/>
            <a:ext cx="1154151" cy="1090789"/>
          </a:xfrm>
        </p:spPr>
        <p:txBody>
          <a:bodyPr/>
          <a:lstStyle/>
          <a:p>
            <a:fld id="{2DC6B436-1E3E-44DE-9FA7-D701B7E76392}" type="slidenum">
              <a:rPr lang="en-IN" smtClean="0"/>
              <a:t>‹#›</a:t>
            </a:fld>
            <a:endParaRPr lang="en-IN"/>
          </a:p>
        </p:txBody>
      </p:sp>
    </p:spTree>
    <p:extLst>
      <p:ext uri="{BB962C8B-B14F-4D97-AF65-F5344CB8AC3E}">
        <p14:creationId xmlns:p14="http://schemas.microsoft.com/office/powerpoint/2010/main" val="20233479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9" name="Picture 8"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0" name="Rectangle 9"/>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1" name="Rectangle 10"/>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22" y="609597"/>
            <a:ext cx="9613858" cy="3592750"/>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2" y="4711615"/>
            <a:ext cx="9613859" cy="1090789"/>
          </a:xfrm>
        </p:spPr>
        <p:txBody>
          <a:bodyPr anchor="ct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AE929F4-875E-444A-8433-BB6FEBE15AE0}" type="datetimeFigureOut">
              <a:rPr lang="en-IN" smtClean="0"/>
              <a:t>15-11-2025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11615"/>
            <a:ext cx="1154151" cy="1090789"/>
          </a:xfrm>
        </p:spPr>
        <p:txBody>
          <a:bodyPr/>
          <a:lstStyle/>
          <a:p>
            <a:fld id="{2DC6B436-1E3E-44DE-9FA7-D701B7E76392}" type="slidenum">
              <a:rPr lang="en-IN" smtClean="0"/>
              <a:t>‹#›</a:t>
            </a:fld>
            <a:endParaRPr lang="en-IN"/>
          </a:p>
        </p:txBody>
      </p:sp>
    </p:spTree>
    <p:extLst>
      <p:ext uri="{BB962C8B-B14F-4D97-AF65-F5344CB8AC3E}">
        <p14:creationId xmlns:p14="http://schemas.microsoft.com/office/powerpoint/2010/main" val="414756263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3" name="Picture 12"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4" name="Rectangle 13"/>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Rectangle 14"/>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127856" y="609598"/>
            <a:ext cx="8718877" cy="3036061"/>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402288" y="3653379"/>
            <a:ext cx="815657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680322" y="4711615"/>
            <a:ext cx="9613859" cy="1090789"/>
          </a:xfrm>
        </p:spPr>
        <p:txBody>
          <a:bodyPr anchor="ct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AE929F4-875E-444A-8433-BB6FEBE15AE0}" type="datetimeFigureOut">
              <a:rPr lang="en-IN" smtClean="0"/>
              <a:t>15-11-2025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09925"/>
            <a:ext cx="1154151" cy="1090789"/>
          </a:xfrm>
        </p:spPr>
        <p:txBody>
          <a:bodyPr/>
          <a:lstStyle/>
          <a:p>
            <a:fld id="{2DC6B436-1E3E-44DE-9FA7-D701B7E76392}" type="slidenum">
              <a:rPr lang="en-IN" smtClean="0"/>
              <a:t>‹#›</a:t>
            </a:fld>
            <a:endParaRPr lang="en-IN"/>
          </a:p>
        </p:txBody>
      </p:sp>
      <p:sp>
        <p:nvSpPr>
          <p:cNvPr id="16" name="TextBox 15"/>
          <p:cNvSpPr txBox="1"/>
          <p:nvPr/>
        </p:nvSpPr>
        <p:spPr>
          <a:xfrm>
            <a:off x="583572" y="74811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7200" dirty="0">
                <a:solidFill>
                  <a:schemeClr val="tx1"/>
                </a:solidFill>
                <a:effectLst/>
              </a:rPr>
              <a:t>“</a:t>
            </a:r>
          </a:p>
        </p:txBody>
      </p:sp>
      <p:sp>
        <p:nvSpPr>
          <p:cNvPr id="17" name="TextBox 16"/>
          <p:cNvSpPr txBox="1"/>
          <p:nvPr/>
        </p:nvSpPr>
        <p:spPr>
          <a:xfrm>
            <a:off x="9662809" y="303352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7200" dirty="0">
                <a:solidFill>
                  <a:schemeClr val="tx1"/>
                </a:solidFill>
                <a:effectLst/>
              </a:rPr>
              <a:t>”</a:t>
            </a:r>
          </a:p>
        </p:txBody>
      </p:sp>
    </p:spTree>
    <p:extLst>
      <p:ext uri="{BB962C8B-B14F-4D97-AF65-F5344CB8AC3E}">
        <p14:creationId xmlns:p14="http://schemas.microsoft.com/office/powerpoint/2010/main" val="377870286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9" name="Picture 8"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5928628"/>
            <a:ext cx="10437812" cy="321164"/>
          </a:xfrm>
          <a:prstGeom prst="rect">
            <a:avLst/>
          </a:prstGeom>
        </p:spPr>
      </p:pic>
      <p:pic>
        <p:nvPicPr>
          <p:cNvPr id="10" name="Picture 9"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5929622"/>
            <a:ext cx="1602997" cy="144270"/>
          </a:xfrm>
          <a:prstGeom prst="rect">
            <a:avLst/>
          </a:prstGeom>
        </p:spPr>
      </p:pic>
      <p:sp>
        <p:nvSpPr>
          <p:cNvPr id="11" name="Rectangle 10"/>
          <p:cNvSpPr/>
          <p:nvPr/>
        </p:nvSpPr>
        <p:spPr bwMode="ltGray">
          <a:xfrm>
            <a:off x="0" y="4567988"/>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2" name="Rectangle 11"/>
          <p:cNvSpPr/>
          <p:nvPr/>
        </p:nvSpPr>
        <p:spPr>
          <a:xfrm>
            <a:off x="10585827" y="4567988"/>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680319" y="4711615"/>
            <a:ext cx="9613862" cy="5885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680320" y="5300149"/>
            <a:ext cx="9613862" cy="502255"/>
          </a:xfrm>
        </p:spPr>
        <p:txBody>
          <a:bodyPr anchor="t"/>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AE929F4-875E-444A-8433-BB6FEBE15AE0}" type="datetimeFigureOut">
              <a:rPr lang="en-IN" smtClean="0"/>
              <a:t>15-11-2025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a:xfrm>
            <a:off x="10729455" y="4709925"/>
            <a:ext cx="1154151" cy="1090789"/>
          </a:xfrm>
        </p:spPr>
        <p:txBody>
          <a:bodyPr/>
          <a:lstStyle/>
          <a:p>
            <a:fld id="{2DC6B436-1E3E-44DE-9FA7-D701B7E76392}" type="slidenum">
              <a:rPr lang="en-IN" smtClean="0"/>
              <a:t>‹#›</a:t>
            </a:fld>
            <a:endParaRPr lang="en-IN"/>
          </a:p>
        </p:txBody>
      </p:sp>
    </p:spTree>
    <p:extLst>
      <p:ext uri="{BB962C8B-B14F-4D97-AF65-F5344CB8AC3E}">
        <p14:creationId xmlns:p14="http://schemas.microsoft.com/office/powerpoint/2010/main" val="336228549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4" name="Picture 13"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6" name="Rectangle 15"/>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7" name="Rectangle 16"/>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5" name="Title 1"/>
          <p:cNvSpPr>
            <a:spLocks noGrp="1"/>
          </p:cNvSpPr>
          <p:nvPr>
            <p:ph type="title"/>
          </p:nvPr>
        </p:nvSpPr>
        <p:spPr>
          <a:xfrm>
            <a:off x="669222" y="753228"/>
            <a:ext cx="9624960" cy="1080938"/>
          </a:xfrm>
        </p:spPr>
        <p:txBody>
          <a:bodyPr/>
          <a:lstStyle/>
          <a:p>
            <a:r>
              <a:rPr lang="en-US"/>
              <a:t>Click to edit Master title style</a:t>
            </a:r>
            <a:endParaRPr lang="en-US" dirty="0"/>
          </a:p>
        </p:txBody>
      </p:sp>
      <p:sp>
        <p:nvSpPr>
          <p:cNvPr id="7" name="Text Placeholder 2"/>
          <p:cNvSpPr>
            <a:spLocks noGrp="1"/>
          </p:cNvSpPr>
          <p:nvPr>
            <p:ph type="body" idx="1"/>
          </p:nvPr>
        </p:nvSpPr>
        <p:spPr>
          <a:xfrm>
            <a:off x="660946" y="2336873"/>
            <a:ext cx="3070034"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680322" y="3022673"/>
            <a:ext cx="3049702"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3956025" y="233687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3945470" y="3022673"/>
            <a:ext cx="3063240"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224156" y="2336873"/>
            <a:ext cx="307002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224156" y="3022673"/>
            <a:ext cx="3070025" cy="291351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AE929F4-875E-444A-8433-BB6FEBE15AE0}" type="datetimeFigureOut">
              <a:rPr lang="en-IN" smtClean="0"/>
              <a:t>15-11-2025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DC6B436-1E3E-44DE-9FA7-D701B7E76392}" type="slidenum">
              <a:rPr lang="en-IN" smtClean="0"/>
              <a:t>‹#›</a:t>
            </a:fld>
            <a:endParaRPr lang="en-IN"/>
          </a:p>
        </p:txBody>
      </p:sp>
    </p:spTree>
    <p:extLst>
      <p:ext uri="{BB962C8B-B14F-4D97-AF65-F5344CB8AC3E}">
        <p14:creationId xmlns:p14="http://schemas.microsoft.com/office/powerpoint/2010/main" val="22177118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5" name="Picture 14"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16" name="Picture 15"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17" name="Rectangle 16"/>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8" name="Rectangle 17"/>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30" name="Title 1"/>
          <p:cNvSpPr>
            <a:spLocks noGrp="1"/>
          </p:cNvSpPr>
          <p:nvPr>
            <p:ph type="title"/>
          </p:nvPr>
        </p:nvSpPr>
        <p:spPr>
          <a:xfrm>
            <a:off x="680322" y="753228"/>
            <a:ext cx="9613860" cy="1080938"/>
          </a:xfrm>
        </p:spPr>
        <p:txBody>
          <a:bodyPr/>
          <a:lstStyle/>
          <a:p>
            <a:r>
              <a:rPr lang="en-US"/>
              <a:t>Click to edit Master title style</a:t>
            </a:r>
            <a:endParaRPr lang="en-US" dirty="0"/>
          </a:p>
        </p:txBody>
      </p:sp>
      <p:sp>
        <p:nvSpPr>
          <p:cNvPr id="19" name="Text Placeholder 2"/>
          <p:cNvSpPr>
            <a:spLocks noGrp="1"/>
          </p:cNvSpPr>
          <p:nvPr>
            <p:ph type="body" idx="1"/>
          </p:nvPr>
        </p:nvSpPr>
        <p:spPr>
          <a:xfrm>
            <a:off x="680318" y="4297503"/>
            <a:ext cx="30497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680318" y="2336873"/>
            <a:ext cx="30497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680318" y="4873765"/>
            <a:ext cx="3049705"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3945471" y="4297503"/>
            <a:ext cx="3063240"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3945470" y="2336873"/>
            <a:ext cx="3063240"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3944117" y="4873764"/>
            <a:ext cx="3067297"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230678" y="4297503"/>
            <a:ext cx="3063505" cy="576262"/>
          </a:xfrm>
        </p:spPr>
        <p:txBody>
          <a:bodyPr anchor="b">
            <a:noAutofit/>
          </a:bodyPr>
          <a:lstStyle>
            <a:lvl1pPr marL="0" indent="0">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230677" y="2336873"/>
            <a:ext cx="3063505" cy="1524000"/>
          </a:xfrm>
          <a:prstGeom prst="roundRect">
            <a:avLst>
              <a:gd name="adj" fmla="val 0"/>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230553" y="4873762"/>
            <a:ext cx="3067563" cy="106242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CAE929F4-875E-444A-8433-BB6FEBE15AE0}" type="datetimeFigureOut">
              <a:rPr lang="en-IN" smtClean="0"/>
              <a:t>15-11-2025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2DC6B436-1E3E-44DE-9FA7-D701B7E76392}" type="slidenum">
              <a:rPr lang="en-IN" smtClean="0"/>
              <a:t>‹#›</a:t>
            </a:fld>
            <a:endParaRPr lang="en-IN"/>
          </a:p>
        </p:txBody>
      </p:sp>
    </p:spTree>
    <p:extLst>
      <p:ext uri="{BB962C8B-B14F-4D97-AF65-F5344CB8AC3E}">
        <p14:creationId xmlns:p14="http://schemas.microsoft.com/office/powerpoint/2010/main" val="25831002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7" name="Picture 6" descr="HD-ShadowLong.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970240"/>
            <a:ext cx="10437812" cy="321164"/>
          </a:xfrm>
          <a:prstGeom prst="rect">
            <a:avLst/>
          </a:prstGeom>
        </p:spPr>
      </p:pic>
      <p:pic>
        <p:nvPicPr>
          <p:cNvPr id="8" name="Picture 7" descr="HD-ShadowShort.png"/>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0585826" y="1971234"/>
            <a:ext cx="1602997" cy="144270"/>
          </a:xfrm>
          <a:prstGeom prst="rect">
            <a:avLst/>
          </a:prstGeom>
        </p:spPr>
      </p:pic>
      <p:sp>
        <p:nvSpPr>
          <p:cNvPr id="9" name="Rectangle 8"/>
          <p:cNvSpPr/>
          <p:nvPr/>
        </p:nvSpPr>
        <p:spPr bwMode="ltGray">
          <a:xfrm>
            <a:off x="0" y="609600"/>
            <a:ext cx="10437812"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10" name="Rectangle 9"/>
          <p:cNvSpPr/>
          <p:nvPr/>
        </p:nvSpPr>
        <p:spPr>
          <a:xfrm>
            <a:off x="10585827" y="609600"/>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p:txBody>
          <a:bodyPr/>
          <a:lstStyle>
            <a:lvl1pPr algn="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AE929F4-875E-444A-8433-BB6FEBE15AE0}" type="datetimeFigureOut">
              <a:rPr lang="en-IN" smtClean="0"/>
              <a:t>15-11-2025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2DC6B436-1E3E-44DE-9FA7-D701B7E76392}" type="slidenum">
              <a:rPr lang="en-IN" smtClean="0"/>
              <a:t>‹#›</a:t>
            </a:fld>
            <a:endParaRPr lang="en-IN"/>
          </a:p>
        </p:txBody>
      </p:sp>
    </p:spTree>
    <p:extLst>
      <p:ext uri="{BB962C8B-B14F-4D97-AF65-F5344CB8AC3E}">
        <p14:creationId xmlns:p14="http://schemas.microsoft.com/office/powerpoint/2010/main" val="353425601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7" name="Rectangle 6"/>
          <p:cNvSpPr/>
          <p:nvPr/>
        </p:nvSpPr>
        <p:spPr bwMode="ltGray">
          <a:xfrm rot="5400000">
            <a:off x="8116207" y="1869395"/>
            <a:ext cx="5106988" cy="1368198"/>
          </a:xfrm>
          <a:prstGeom prst="rect">
            <a:avLst/>
          </a:prstGeom>
          <a:solidFill>
            <a:schemeClr val="bg1">
              <a:lumMod val="85000"/>
              <a:lumOff val="15000"/>
            </a:schemeClr>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rot="5400000">
            <a:off x="9868202" y="5372403"/>
            <a:ext cx="1602997" cy="136819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10129231" y="609597"/>
            <a:ext cx="1073802" cy="435376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0322" y="609597"/>
            <a:ext cx="8870004" cy="53265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6807126" y="5936187"/>
            <a:ext cx="2743200" cy="365125"/>
          </a:xfrm>
        </p:spPr>
        <p:txBody>
          <a:bodyPr/>
          <a:lstStyle/>
          <a:p>
            <a:fld id="{CAE929F4-875E-444A-8433-BB6FEBE15AE0}" type="datetimeFigureOut">
              <a:rPr lang="en-IN" smtClean="0"/>
              <a:t>15-11-2025</a:t>
            </a:fld>
            <a:endParaRPr lang="en-IN"/>
          </a:p>
        </p:txBody>
      </p:sp>
      <p:sp>
        <p:nvSpPr>
          <p:cNvPr id="5" name="Footer Placeholder 4"/>
          <p:cNvSpPr>
            <a:spLocks noGrp="1"/>
          </p:cNvSpPr>
          <p:nvPr>
            <p:ph type="ftr" sz="quarter" idx="11"/>
          </p:nvPr>
        </p:nvSpPr>
        <p:spPr>
          <a:xfrm>
            <a:off x="680321" y="5936188"/>
            <a:ext cx="6126805" cy="365125"/>
          </a:xfrm>
        </p:spPr>
        <p:txBody>
          <a:bodyPr/>
          <a:lstStyle/>
          <a:p>
            <a:endParaRPr lang="en-IN"/>
          </a:p>
        </p:txBody>
      </p:sp>
      <p:sp>
        <p:nvSpPr>
          <p:cNvPr id="6" name="Slide Number Placeholder 5"/>
          <p:cNvSpPr>
            <a:spLocks noGrp="1"/>
          </p:cNvSpPr>
          <p:nvPr>
            <p:ph type="sldNum" sz="quarter" idx="12"/>
          </p:nvPr>
        </p:nvSpPr>
        <p:spPr>
          <a:xfrm>
            <a:off x="10097550" y="5398633"/>
            <a:ext cx="1154151" cy="1090789"/>
          </a:xfrm>
        </p:spPr>
        <p:txBody>
          <a:bodyPr anchor="t"/>
          <a:lstStyle>
            <a:lvl1pPr algn="ctr">
              <a:defRPr/>
            </a:lvl1pPr>
          </a:lstStyle>
          <a:p>
            <a:fld id="{2DC6B436-1E3E-44DE-9FA7-D701B7E76392}" type="slidenum">
              <a:rPr lang="en-IN" smtClean="0"/>
              <a:t>‹#›</a:t>
            </a:fld>
            <a:endParaRPr lang="en-IN"/>
          </a:p>
        </p:txBody>
      </p:sp>
    </p:spTree>
    <p:extLst>
      <p:ext uri="{BB962C8B-B14F-4D97-AF65-F5344CB8AC3E}">
        <p14:creationId xmlns:p14="http://schemas.microsoft.com/office/powerpoint/2010/main" val="16917554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6" descr="hashOverlay-FullResolve.png"/>
          <p:cNvPicPr>
            <a:picLocks noChangeAspect="1"/>
          </p:cNvPicPr>
          <p:nvPr/>
        </p:nvPicPr>
        <p:blipFill>
          <a:blip r:embed="rId19">
            <a:alphaModFix amt="10000"/>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Placeholder 1"/>
          <p:cNvSpPr>
            <a:spLocks noGrp="1"/>
          </p:cNvSpPr>
          <p:nvPr>
            <p:ph type="title"/>
          </p:nvPr>
        </p:nvSpPr>
        <p:spPr>
          <a:xfrm>
            <a:off x="680321" y="753228"/>
            <a:ext cx="9613861" cy="108093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0321" y="2336873"/>
            <a:ext cx="9613861" cy="359931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0981" y="5936187"/>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AE929F4-875E-444A-8433-BB6FEBE15AE0}" type="datetimeFigureOut">
              <a:rPr lang="en-IN" smtClean="0"/>
              <a:t>15-11-2025</a:t>
            </a:fld>
            <a:endParaRPr lang="en-IN"/>
          </a:p>
        </p:txBody>
      </p:sp>
      <p:sp>
        <p:nvSpPr>
          <p:cNvPr id="5" name="Footer Placeholder 4"/>
          <p:cNvSpPr>
            <a:spLocks noGrp="1"/>
          </p:cNvSpPr>
          <p:nvPr>
            <p:ph type="ftr" sz="quarter" idx="3"/>
          </p:nvPr>
        </p:nvSpPr>
        <p:spPr>
          <a:xfrm>
            <a:off x="680321" y="5936188"/>
            <a:ext cx="6870660" cy="365125"/>
          </a:xfrm>
          <a:prstGeom prst="rect">
            <a:avLst/>
          </a:prstGeom>
        </p:spPr>
        <p:txBody>
          <a:bodyPr vert="horz" lIns="91440" tIns="45720" rIns="91440" bIns="45720" rtlCol="0" anchor="ctr"/>
          <a:lstStyle>
            <a:lvl1pPr algn="l">
              <a:defRPr sz="105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729455" y="753227"/>
            <a:ext cx="1154151" cy="1090789"/>
          </a:xfrm>
          <a:prstGeom prst="rect">
            <a:avLst/>
          </a:prstGeom>
        </p:spPr>
        <p:txBody>
          <a:bodyPr vert="horz" lIns="91440" tIns="45720" rIns="91440" bIns="45720" rtlCol="0" anchor="ctr"/>
          <a:lstStyle>
            <a:lvl1pPr algn="l">
              <a:defRPr sz="3600">
                <a:solidFill>
                  <a:schemeClr val="tx1">
                    <a:tint val="75000"/>
                  </a:schemeClr>
                </a:solidFill>
              </a:defRPr>
            </a:lvl1pPr>
          </a:lstStyle>
          <a:p>
            <a:fld id="{2DC6B436-1E3E-44DE-9FA7-D701B7E76392}" type="slidenum">
              <a:rPr lang="en-IN" smtClean="0"/>
              <a:t>‹#›</a:t>
            </a:fld>
            <a:endParaRPr lang="en-IN"/>
          </a:p>
        </p:txBody>
      </p:sp>
    </p:spTree>
    <p:extLst>
      <p:ext uri="{BB962C8B-B14F-4D97-AF65-F5344CB8AC3E}">
        <p14:creationId xmlns:p14="http://schemas.microsoft.com/office/powerpoint/2010/main" val="2917536294"/>
      </p:ext>
    </p:extLst>
  </p:cSld>
  <p:clrMap bg1="dk1" tx1="lt1" bg2="dk2" tx2="lt2" accent1="accent1" accent2="accent2" accent3="accent3" accent4="accent4" accent5="accent5" accent6="accent6" hlink="hlink" folHlink="folHlink"/>
  <p:sldLayoutIdLst>
    <p:sldLayoutId id="2147483799" r:id="rId1"/>
    <p:sldLayoutId id="2147483800" r:id="rId2"/>
    <p:sldLayoutId id="2147483801" r:id="rId3"/>
    <p:sldLayoutId id="2147483802" r:id="rId4"/>
    <p:sldLayoutId id="2147483803" r:id="rId5"/>
    <p:sldLayoutId id="2147483804" r:id="rId6"/>
    <p:sldLayoutId id="2147483805" r:id="rId7"/>
    <p:sldLayoutId id="2147483806" r:id="rId8"/>
    <p:sldLayoutId id="2147483807" r:id="rId9"/>
    <p:sldLayoutId id="2147483808" r:id="rId10"/>
    <p:sldLayoutId id="2147483809" r:id="rId11"/>
    <p:sldLayoutId id="2147483810" r:id="rId12"/>
    <p:sldLayoutId id="2147483811" r:id="rId13"/>
    <p:sldLayoutId id="2147483812" r:id="rId14"/>
    <p:sldLayoutId id="2147483813" r:id="rId15"/>
    <p:sldLayoutId id="2147483814" r:id="rId16"/>
    <p:sldLayoutId id="2147483815" r:id="rId17"/>
  </p:sldLayoutIdLst>
  <p:txStyles>
    <p:titleStyle>
      <a:lvl1pPr algn="l" defTabSz="914400" rtl="0" eaLnBrk="1" latinLnBrk="0" hangingPunct="1">
        <a:lnSpc>
          <a:spcPct val="90000"/>
        </a:lnSpc>
        <a:spcBef>
          <a:spcPct val="0"/>
        </a:spcBef>
        <a:buNone/>
        <a:defRPr sz="36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2.xml.rels><?xml version="1.0" encoding="UTF-8" standalone="yes"?>
<Relationships xmlns="http://schemas.openxmlformats.org/package/2006/relationships"><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E52147-7CE3-0E1D-3321-26EB821C11AE}"/>
              </a:ext>
            </a:extLst>
          </p:cNvPr>
          <p:cNvSpPr>
            <a:spLocks noGrp="1"/>
          </p:cNvSpPr>
          <p:nvPr>
            <p:ph type="ctrTitle"/>
          </p:nvPr>
        </p:nvSpPr>
        <p:spPr/>
        <p:txBody>
          <a:bodyPr>
            <a:normAutofit fontScale="90000"/>
          </a:bodyPr>
          <a:lstStyle/>
          <a:p>
            <a:r>
              <a:rPr lang="en-US" dirty="0"/>
              <a:t>Salary Prediction Using Machine Learning</a:t>
            </a:r>
            <a:endParaRPr lang="en-IN" dirty="0"/>
          </a:p>
        </p:txBody>
      </p:sp>
      <p:sp>
        <p:nvSpPr>
          <p:cNvPr id="3" name="Subtitle 2">
            <a:extLst>
              <a:ext uri="{FF2B5EF4-FFF2-40B4-BE49-F238E27FC236}">
                <a16:creationId xmlns:a16="http://schemas.microsoft.com/office/drawing/2014/main" id="{97A13504-E0DD-5F13-F55E-E675443823C7}"/>
              </a:ext>
            </a:extLst>
          </p:cNvPr>
          <p:cNvSpPr>
            <a:spLocks noGrp="1"/>
          </p:cNvSpPr>
          <p:nvPr>
            <p:ph type="subTitle" idx="1"/>
          </p:nvPr>
        </p:nvSpPr>
        <p:spPr/>
        <p:txBody>
          <a:bodyPr/>
          <a:lstStyle/>
          <a:p>
            <a:r>
              <a:rPr lang="en-IN" dirty="0"/>
              <a:t>A Regression Based Analysis</a:t>
            </a:r>
          </a:p>
        </p:txBody>
      </p:sp>
      <p:pic>
        <p:nvPicPr>
          <p:cNvPr id="8" name="Picture 7">
            <a:extLst>
              <a:ext uri="{FF2B5EF4-FFF2-40B4-BE49-F238E27FC236}">
                <a16:creationId xmlns:a16="http://schemas.microsoft.com/office/drawing/2014/main" id="{98451E33-1D85-7345-DF47-F7925C580BA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14257"/>
            <a:ext cx="12191999" cy="6869002"/>
          </a:xfrm>
          <a:prstGeom prst="rect">
            <a:avLst/>
          </a:prstGeom>
        </p:spPr>
      </p:pic>
      <p:pic>
        <p:nvPicPr>
          <p:cNvPr id="10" name="Picture 9">
            <a:extLst>
              <a:ext uri="{FF2B5EF4-FFF2-40B4-BE49-F238E27FC236}">
                <a16:creationId xmlns:a16="http://schemas.microsoft.com/office/drawing/2014/main" id="{BB1806B1-5FB2-EA3E-889A-D7D6728DF38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0" y="2463961"/>
            <a:ext cx="8418309" cy="2175490"/>
          </a:xfrm>
          <a:prstGeom prst="rect">
            <a:avLst/>
          </a:prstGeom>
        </p:spPr>
      </p:pic>
      <p:sp>
        <p:nvSpPr>
          <p:cNvPr id="12" name="TextBox 11">
            <a:extLst>
              <a:ext uri="{FF2B5EF4-FFF2-40B4-BE49-F238E27FC236}">
                <a16:creationId xmlns:a16="http://schemas.microsoft.com/office/drawing/2014/main" id="{D2AE1AED-5FB4-E67E-E6C7-4EB7DCD2CE5F}"/>
              </a:ext>
            </a:extLst>
          </p:cNvPr>
          <p:cNvSpPr txBox="1"/>
          <p:nvPr/>
        </p:nvSpPr>
        <p:spPr>
          <a:xfrm>
            <a:off x="186813" y="5798986"/>
            <a:ext cx="3893574" cy="923330"/>
          </a:xfrm>
          <a:prstGeom prst="rect">
            <a:avLst/>
          </a:prstGeom>
          <a:noFill/>
        </p:spPr>
        <p:txBody>
          <a:bodyPr wrap="square" rtlCol="0">
            <a:spAutoFit/>
          </a:bodyPr>
          <a:lstStyle/>
          <a:p>
            <a:r>
              <a:rPr lang="en-US" dirty="0"/>
              <a:t>NAME=SURYANSH KUMAR</a:t>
            </a:r>
            <a:br>
              <a:rPr lang="en-US" dirty="0"/>
            </a:br>
            <a:r>
              <a:rPr lang="en-US" dirty="0"/>
              <a:t>STUDENT I.D= 231003003118 </a:t>
            </a:r>
            <a:br>
              <a:rPr lang="en-US" dirty="0"/>
            </a:br>
            <a:endParaRPr lang="en-IN" dirty="0"/>
          </a:p>
        </p:txBody>
      </p:sp>
    </p:spTree>
    <p:extLst>
      <p:ext uri="{BB962C8B-B14F-4D97-AF65-F5344CB8AC3E}">
        <p14:creationId xmlns:p14="http://schemas.microsoft.com/office/powerpoint/2010/main" val="40877115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4DAAF34-23F2-CE02-A51A-4CD4189C8338}"/>
              </a:ext>
            </a:extLst>
          </p:cNvPr>
          <p:cNvSpPr>
            <a:spLocks noGrp="1"/>
          </p:cNvSpPr>
          <p:nvPr>
            <p:ph type="title"/>
          </p:nvPr>
        </p:nvSpPr>
        <p:spPr/>
        <p:txBody>
          <a:bodyPr/>
          <a:lstStyle/>
          <a:p>
            <a:r>
              <a:rPr lang="en-US" dirty="0"/>
              <a:t>Introductions</a:t>
            </a:r>
            <a:endParaRPr lang="en-IN" dirty="0"/>
          </a:p>
        </p:txBody>
      </p:sp>
      <p:sp>
        <p:nvSpPr>
          <p:cNvPr id="3" name="Content Placeholder 2">
            <a:extLst>
              <a:ext uri="{FF2B5EF4-FFF2-40B4-BE49-F238E27FC236}">
                <a16:creationId xmlns:a16="http://schemas.microsoft.com/office/drawing/2014/main" id="{EE74A64F-3C33-BA95-D15C-EE0E75DA14E9}"/>
              </a:ext>
            </a:extLst>
          </p:cNvPr>
          <p:cNvSpPr>
            <a:spLocks noGrp="1"/>
          </p:cNvSpPr>
          <p:nvPr>
            <p:ph idx="1"/>
          </p:nvPr>
        </p:nvSpPr>
        <p:spPr>
          <a:xfrm>
            <a:off x="336192" y="2287712"/>
            <a:ext cx="9613861" cy="3599316"/>
          </a:xfrm>
        </p:spPr>
        <p:txBody>
          <a:bodyPr/>
          <a:lstStyle/>
          <a:p>
            <a:r>
              <a:rPr lang="en-US" dirty="0"/>
              <a:t>This project builds a complete machine learning system that predicts employee salaries using multiple regression models. The dataset includes key features such as job title, years of experience, age, education level and other attributes that influence salary decisions.</a:t>
            </a:r>
          </a:p>
          <a:p>
            <a:endParaRPr lang="en-IN" dirty="0"/>
          </a:p>
        </p:txBody>
      </p:sp>
      <p:pic>
        <p:nvPicPr>
          <p:cNvPr id="5" name="Picture 4">
            <a:extLst>
              <a:ext uri="{FF2B5EF4-FFF2-40B4-BE49-F238E27FC236}">
                <a16:creationId xmlns:a16="http://schemas.microsoft.com/office/drawing/2014/main" id="{E77F5554-3532-D07F-BA6C-AC7BCE1BEE5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731045" y="3305971"/>
            <a:ext cx="3460955" cy="3552029"/>
          </a:xfrm>
          <a:prstGeom prst="rect">
            <a:avLst/>
          </a:prstGeom>
        </p:spPr>
      </p:pic>
    </p:spTree>
    <p:extLst>
      <p:ext uri="{BB962C8B-B14F-4D97-AF65-F5344CB8AC3E}">
        <p14:creationId xmlns:p14="http://schemas.microsoft.com/office/powerpoint/2010/main" val="95945024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1BFFFA-D5FA-328C-C7C6-534737EA8071}"/>
              </a:ext>
            </a:extLst>
          </p:cNvPr>
          <p:cNvSpPr>
            <a:spLocks noGrp="1"/>
          </p:cNvSpPr>
          <p:nvPr>
            <p:ph type="title"/>
          </p:nvPr>
        </p:nvSpPr>
        <p:spPr/>
        <p:txBody>
          <a:bodyPr/>
          <a:lstStyle/>
          <a:p>
            <a:r>
              <a:rPr lang="en-IN" dirty="0"/>
              <a:t>Objective of the Project</a:t>
            </a:r>
          </a:p>
        </p:txBody>
      </p:sp>
      <p:sp>
        <p:nvSpPr>
          <p:cNvPr id="3" name="Content Placeholder 2">
            <a:extLst>
              <a:ext uri="{FF2B5EF4-FFF2-40B4-BE49-F238E27FC236}">
                <a16:creationId xmlns:a16="http://schemas.microsoft.com/office/drawing/2014/main" id="{C47CE8D2-977F-1678-E7A2-8ECA73D4363A}"/>
              </a:ext>
            </a:extLst>
          </p:cNvPr>
          <p:cNvSpPr>
            <a:spLocks noGrp="1"/>
          </p:cNvSpPr>
          <p:nvPr>
            <p:ph idx="1"/>
          </p:nvPr>
        </p:nvSpPr>
        <p:spPr/>
        <p:txBody>
          <a:bodyPr/>
          <a:lstStyle/>
          <a:p>
            <a:r>
              <a:rPr lang="en-US" dirty="0"/>
              <a:t>The main goal is to analyze how different employee attributes contribute to salary prediction.</a:t>
            </a:r>
            <a:br>
              <a:rPr lang="en-US" dirty="0"/>
            </a:br>
            <a:endParaRPr lang="en-US" dirty="0"/>
          </a:p>
          <a:p>
            <a:r>
              <a:rPr lang="en-US" dirty="0"/>
              <a:t>Another objective is to compare various regression algorithms and identify the best performing model.</a:t>
            </a:r>
            <a:br>
              <a:rPr lang="en-US" dirty="0"/>
            </a:br>
            <a:endParaRPr lang="en-US" dirty="0"/>
          </a:p>
          <a:p>
            <a:r>
              <a:rPr lang="en-US" dirty="0"/>
              <a:t>The system is designed to run smoothly in </a:t>
            </a:r>
            <a:r>
              <a:rPr lang="en-US" dirty="0" err="1"/>
              <a:t>Jupyter</a:t>
            </a:r>
            <a:r>
              <a:rPr lang="en-US" dirty="0"/>
              <a:t> Notebook using Python and essential machine learning libraries.</a:t>
            </a:r>
            <a:endParaRPr lang="en-IN" dirty="0"/>
          </a:p>
        </p:txBody>
      </p:sp>
    </p:spTree>
    <p:extLst>
      <p:ext uri="{BB962C8B-B14F-4D97-AF65-F5344CB8AC3E}">
        <p14:creationId xmlns:p14="http://schemas.microsoft.com/office/powerpoint/2010/main" val="25801595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1C561F-7D48-158B-6B06-92324E4DF0AB}"/>
              </a:ext>
            </a:extLst>
          </p:cNvPr>
          <p:cNvSpPr>
            <a:spLocks noGrp="1"/>
          </p:cNvSpPr>
          <p:nvPr>
            <p:ph type="title"/>
          </p:nvPr>
        </p:nvSpPr>
        <p:spPr/>
        <p:txBody>
          <a:bodyPr/>
          <a:lstStyle/>
          <a:p>
            <a:r>
              <a:rPr lang="en-IN" dirty="0"/>
              <a:t>About the Dataset</a:t>
            </a:r>
          </a:p>
        </p:txBody>
      </p:sp>
      <p:sp>
        <p:nvSpPr>
          <p:cNvPr id="3" name="Content Placeholder 2">
            <a:extLst>
              <a:ext uri="{FF2B5EF4-FFF2-40B4-BE49-F238E27FC236}">
                <a16:creationId xmlns:a16="http://schemas.microsoft.com/office/drawing/2014/main" id="{87D95530-4FE2-06F8-0FE1-782981E7A435}"/>
              </a:ext>
            </a:extLst>
          </p:cNvPr>
          <p:cNvSpPr>
            <a:spLocks noGrp="1"/>
          </p:cNvSpPr>
          <p:nvPr>
            <p:ph idx="1"/>
          </p:nvPr>
        </p:nvSpPr>
        <p:spPr/>
        <p:txBody>
          <a:bodyPr/>
          <a:lstStyle/>
          <a:p>
            <a:r>
              <a:rPr lang="en-US" dirty="0"/>
              <a:t>The dataset used in this project contains 375 rows of employee information.</a:t>
            </a:r>
            <a:br>
              <a:rPr lang="en-US" dirty="0"/>
            </a:br>
            <a:endParaRPr lang="en-US" dirty="0"/>
          </a:p>
          <a:p>
            <a:r>
              <a:rPr lang="en-US" dirty="0"/>
              <a:t>It includes columns such as age, gender, education, job title, years of experience and salary.</a:t>
            </a:r>
            <a:br>
              <a:rPr lang="en-US" dirty="0"/>
            </a:br>
            <a:endParaRPr lang="en-IN" dirty="0"/>
          </a:p>
        </p:txBody>
      </p:sp>
      <p:pic>
        <p:nvPicPr>
          <p:cNvPr id="5" name="Picture 4">
            <a:extLst>
              <a:ext uri="{FF2B5EF4-FFF2-40B4-BE49-F238E27FC236}">
                <a16:creationId xmlns:a16="http://schemas.microsoft.com/office/drawing/2014/main" id="{204F1BD0-9CE4-B0E9-E301-43F8E4799C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5123" y="4136348"/>
            <a:ext cx="6662111" cy="2440279"/>
          </a:xfrm>
          <a:prstGeom prst="rect">
            <a:avLst/>
          </a:prstGeom>
        </p:spPr>
      </p:pic>
    </p:spTree>
    <p:extLst>
      <p:ext uri="{BB962C8B-B14F-4D97-AF65-F5344CB8AC3E}">
        <p14:creationId xmlns:p14="http://schemas.microsoft.com/office/powerpoint/2010/main" val="359510595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B47B4B-4082-6DDC-C98F-2BC7C616B2BE}"/>
              </a:ext>
            </a:extLst>
          </p:cNvPr>
          <p:cNvSpPr>
            <a:spLocks noGrp="1"/>
          </p:cNvSpPr>
          <p:nvPr>
            <p:ph type="title"/>
          </p:nvPr>
        </p:nvSpPr>
        <p:spPr/>
        <p:txBody>
          <a:bodyPr/>
          <a:lstStyle/>
          <a:p>
            <a:r>
              <a:rPr lang="en-IN" dirty="0"/>
              <a:t>Data Preprocessing Steps</a:t>
            </a:r>
          </a:p>
        </p:txBody>
      </p:sp>
      <p:sp>
        <p:nvSpPr>
          <p:cNvPr id="3" name="Content Placeholder 2">
            <a:extLst>
              <a:ext uri="{FF2B5EF4-FFF2-40B4-BE49-F238E27FC236}">
                <a16:creationId xmlns:a16="http://schemas.microsoft.com/office/drawing/2014/main" id="{68E82C7B-744B-BE9B-B9C6-E4AB64C46B84}"/>
              </a:ext>
            </a:extLst>
          </p:cNvPr>
          <p:cNvSpPr>
            <a:spLocks noGrp="1"/>
          </p:cNvSpPr>
          <p:nvPr>
            <p:ph idx="1"/>
          </p:nvPr>
        </p:nvSpPr>
        <p:spPr/>
        <p:txBody>
          <a:bodyPr/>
          <a:lstStyle/>
          <a:p>
            <a:r>
              <a:rPr lang="en-US" dirty="0"/>
              <a:t>Missing values were removed to ensure accuracy.</a:t>
            </a:r>
            <a:br>
              <a:rPr lang="en-US" dirty="0"/>
            </a:br>
            <a:r>
              <a:rPr lang="en-US" dirty="0"/>
              <a:t>Categorical features such as gender, education level and job title were converted into numerical format using one hot encoding.</a:t>
            </a:r>
            <a:br>
              <a:rPr lang="en-US" dirty="0"/>
            </a:br>
            <a:endParaRPr lang="en-US" dirty="0"/>
          </a:p>
          <a:p>
            <a:r>
              <a:rPr lang="en-US" dirty="0"/>
              <a:t>The final dataset contained more than 170 feature columns after encoding.</a:t>
            </a:r>
            <a:br>
              <a:rPr lang="en-US" dirty="0"/>
            </a:br>
            <a:r>
              <a:rPr lang="en-US" dirty="0"/>
              <a:t>Feature scaling was applied where needed for specific models.</a:t>
            </a:r>
            <a:endParaRPr lang="en-IN" dirty="0"/>
          </a:p>
        </p:txBody>
      </p:sp>
    </p:spTree>
    <p:extLst>
      <p:ext uri="{BB962C8B-B14F-4D97-AF65-F5344CB8AC3E}">
        <p14:creationId xmlns:p14="http://schemas.microsoft.com/office/powerpoint/2010/main" val="42821237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C9203-CD01-03A4-7F2C-C19A770057E3}"/>
              </a:ext>
            </a:extLst>
          </p:cNvPr>
          <p:cNvSpPr>
            <a:spLocks noGrp="1"/>
          </p:cNvSpPr>
          <p:nvPr>
            <p:ph type="title"/>
          </p:nvPr>
        </p:nvSpPr>
        <p:spPr/>
        <p:txBody>
          <a:bodyPr/>
          <a:lstStyle/>
          <a:p>
            <a:r>
              <a:rPr lang="en-IN" dirty="0"/>
              <a:t>Train-Test Split</a:t>
            </a:r>
          </a:p>
        </p:txBody>
      </p:sp>
      <p:sp>
        <p:nvSpPr>
          <p:cNvPr id="3" name="Content Placeholder 2">
            <a:extLst>
              <a:ext uri="{FF2B5EF4-FFF2-40B4-BE49-F238E27FC236}">
                <a16:creationId xmlns:a16="http://schemas.microsoft.com/office/drawing/2014/main" id="{9E06A0C4-425F-B4B8-2587-4758A5473F3D}"/>
              </a:ext>
            </a:extLst>
          </p:cNvPr>
          <p:cNvSpPr>
            <a:spLocks noGrp="1"/>
          </p:cNvSpPr>
          <p:nvPr>
            <p:ph idx="1"/>
          </p:nvPr>
        </p:nvSpPr>
        <p:spPr>
          <a:xfrm>
            <a:off x="680322" y="2336872"/>
            <a:ext cx="7824582" cy="4447385"/>
          </a:xfrm>
        </p:spPr>
        <p:txBody>
          <a:bodyPr>
            <a:normAutofit/>
          </a:bodyPr>
          <a:lstStyle/>
          <a:p>
            <a:r>
              <a:rPr lang="en-US" dirty="0"/>
              <a:t>The dataset was divided into training and testing sets using an 80:20 split.</a:t>
            </a:r>
            <a:br>
              <a:rPr lang="en-US" dirty="0"/>
            </a:br>
            <a:endParaRPr lang="en-US" dirty="0"/>
          </a:p>
          <a:p>
            <a:r>
              <a:rPr lang="en-US" dirty="0"/>
              <a:t>Training data was used to fit the machine learning models.</a:t>
            </a:r>
            <a:br>
              <a:rPr lang="en-US" dirty="0"/>
            </a:br>
            <a:endParaRPr lang="en-US" dirty="0"/>
          </a:p>
          <a:p>
            <a:r>
              <a:rPr lang="en-US" dirty="0"/>
              <a:t>Testing data was used to evaluate performance and generate predictions.</a:t>
            </a:r>
            <a:br>
              <a:rPr lang="en-US" dirty="0"/>
            </a:br>
            <a:r>
              <a:rPr lang="en-US" dirty="0"/>
              <a:t>This helps measure the real accuracy of each regression model.</a:t>
            </a:r>
            <a:endParaRPr lang="en-IN" dirty="0"/>
          </a:p>
        </p:txBody>
      </p:sp>
      <p:pic>
        <p:nvPicPr>
          <p:cNvPr id="5" name="Picture 4">
            <a:extLst>
              <a:ext uri="{FF2B5EF4-FFF2-40B4-BE49-F238E27FC236}">
                <a16:creationId xmlns:a16="http://schemas.microsoft.com/office/drawing/2014/main" id="{F0D8138D-CA32-6C17-D2E7-3F0DE63FEB0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63937" y="2336873"/>
            <a:ext cx="4660490" cy="3767900"/>
          </a:xfrm>
          <a:prstGeom prst="rect">
            <a:avLst/>
          </a:prstGeom>
        </p:spPr>
      </p:pic>
    </p:spTree>
    <p:extLst>
      <p:ext uri="{BB962C8B-B14F-4D97-AF65-F5344CB8AC3E}">
        <p14:creationId xmlns:p14="http://schemas.microsoft.com/office/powerpoint/2010/main" val="37116097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D73D6F2-6E2B-239A-4430-2F5B9A2FB0AC}"/>
              </a:ext>
            </a:extLst>
          </p:cNvPr>
          <p:cNvSpPr>
            <a:spLocks noGrp="1"/>
          </p:cNvSpPr>
          <p:nvPr>
            <p:ph type="title"/>
          </p:nvPr>
        </p:nvSpPr>
        <p:spPr/>
        <p:txBody>
          <a:bodyPr/>
          <a:lstStyle/>
          <a:p>
            <a:r>
              <a:rPr lang="en-IN" dirty="0"/>
              <a:t>Regression Models Used</a:t>
            </a:r>
          </a:p>
        </p:txBody>
      </p:sp>
      <p:sp>
        <p:nvSpPr>
          <p:cNvPr id="3" name="Content Placeholder 2">
            <a:extLst>
              <a:ext uri="{FF2B5EF4-FFF2-40B4-BE49-F238E27FC236}">
                <a16:creationId xmlns:a16="http://schemas.microsoft.com/office/drawing/2014/main" id="{3DFD3961-371D-C77B-4979-D8141BE04A61}"/>
              </a:ext>
            </a:extLst>
          </p:cNvPr>
          <p:cNvSpPr>
            <a:spLocks noGrp="1"/>
          </p:cNvSpPr>
          <p:nvPr>
            <p:ph idx="1"/>
          </p:nvPr>
        </p:nvSpPr>
        <p:spPr>
          <a:xfrm>
            <a:off x="100220" y="2084438"/>
            <a:ext cx="6477562" cy="4773562"/>
          </a:xfrm>
        </p:spPr>
        <p:txBody>
          <a:bodyPr>
            <a:normAutofit fontScale="92500" lnSpcReduction="10000"/>
          </a:bodyPr>
          <a:lstStyle/>
          <a:p>
            <a:r>
              <a:rPr lang="en-US" dirty="0"/>
              <a:t>Simple Linear Regression to understand the relationship between salary and one variable.</a:t>
            </a:r>
            <a:br>
              <a:rPr lang="en-US" dirty="0"/>
            </a:br>
            <a:endParaRPr lang="en-US" dirty="0"/>
          </a:p>
          <a:p>
            <a:r>
              <a:rPr lang="en-US" dirty="0"/>
              <a:t>Multiple Linear Regression using all encoded features.</a:t>
            </a:r>
            <a:br>
              <a:rPr lang="en-US" dirty="0"/>
            </a:br>
            <a:endParaRPr lang="en-US" dirty="0"/>
          </a:p>
          <a:p>
            <a:r>
              <a:rPr lang="en-US" dirty="0"/>
              <a:t>Polynomial Regression to capture non-linear patterns in salary prediction.</a:t>
            </a:r>
            <a:br>
              <a:rPr lang="en-US" dirty="0"/>
            </a:br>
            <a:endParaRPr lang="en-US" dirty="0"/>
          </a:p>
          <a:p>
            <a:r>
              <a:rPr lang="en-US" dirty="0"/>
              <a:t>Decision Tree Regression and Random Forest Regression to analyze patterns through tree-based approaches.</a:t>
            </a:r>
            <a:br>
              <a:rPr lang="en-US" dirty="0"/>
            </a:br>
            <a:endParaRPr lang="en-US" dirty="0"/>
          </a:p>
          <a:p>
            <a:r>
              <a:rPr lang="en-US" dirty="0"/>
              <a:t>Support Vector Regression using the RBF kernel for smooth non-linear prediction.</a:t>
            </a:r>
            <a:endParaRPr lang="en-IN" dirty="0"/>
          </a:p>
        </p:txBody>
      </p:sp>
      <p:pic>
        <p:nvPicPr>
          <p:cNvPr id="5" name="Picture 4">
            <a:extLst>
              <a:ext uri="{FF2B5EF4-FFF2-40B4-BE49-F238E27FC236}">
                <a16:creationId xmlns:a16="http://schemas.microsoft.com/office/drawing/2014/main" id="{EB0AF91A-A232-AFF5-9A4D-94392EA77D95}"/>
              </a:ext>
            </a:extLst>
          </p:cNvPr>
          <p:cNvPicPr>
            <a:picLocks noChangeAspect="1"/>
          </p:cNvPicPr>
          <p:nvPr/>
        </p:nvPicPr>
        <p:blipFill>
          <a:blip r:embed="rId2">
            <a:extLst>
              <a:ext uri="{28A0092B-C50C-407E-A947-70E740481C1C}">
                <a14:useLocalDpi xmlns:a14="http://schemas.microsoft.com/office/drawing/2010/main" val="0"/>
              </a:ext>
            </a:extLst>
          </a:blip>
          <a:srcRect t="25353" r="530" b="18929"/>
          <a:stretch>
            <a:fillRect/>
          </a:stretch>
        </p:blipFill>
        <p:spPr>
          <a:xfrm>
            <a:off x="6361470" y="2257564"/>
            <a:ext cx="5506065" cy="3058107"/>
          </a:xfrm>
          <a:prstGeom prst="rect">
            <a:avLst/>
          </a:prstGeom>
        </p:spPr>
      </p:pic>
    </p:spTree>
    <p:extLst>
      <p:ext uri="{BB962C8B-B14F-4D97-AF65-F5344CB8AC3E}">
        <p14:creationId xmlns:p14="http://schemas.microsoft.com/office/powerpoint/2010/main" val="313812914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9AAC5A-CB8A-C858-3F95-28DE50DFD8FD}"/>
              </a:ext>
            </a:extLst>
          </p:cNvPr>
          <p:cNvSpPr>
            <a:spLocks noGrp="1"/>
          </p:cNvSpPr>
          <p:nvPr>
            <p:ph type="title"/>
          </p:nvPr>
        </p:nvSpPr>
        <p:spPr/>
        <p:txBody>
          <a:bodyPr/>
          <a:lstStyle/>
          <a:p>
            <a:r>
              <a:rPr lang="en-IN" dirty="0"/>
              <a:t>Model Training and Prediction</a:t>
            </a:r>
          </a:p>
        </p:txBody>
      </p:sp>
      <p:sp>
        <p:nvSpPr>
          <p:cNvPr id="3" name="Content Placeholder 2">
            <a:extLst>
              <a:ext uri="{FF2B5EF4-FFF2-40B4-BE49-F238E27FC236}">
                <a16:creationId xmlns:a16="http://schemas.microsoft.com/office/drawing/2014/main" id="{E567BD70-C21E-FB26-5E32-0F5A92302B90}"/>
              </a:ext>
            </a:extLst>
          </p:cNvPr>
          <p:cNvSpPr>
            <a:spLocks noGrp="1"/>
          </p:cNvSpPr>
          <p:nvPr>
            <p:ph idx="1"/>
          </p:nvPr>
        </p:nvSpPr>
        <p:spPr>
          <a:xfrm>
            <a:off x="680322" y="2336872"/>
            <a:ext cx="9024118" cy="4152417"/>
          </a:xfrm>
        </p:spPr>
        <p:txBody>
          <a:bodyPr/>
          <a:lstStyle/>
          <a:p>
            <a:r>
              <a:rPr lang="en-US" dirty="0"/>
              <a:t>All models were trained successfully on the processed dataset.</a:t>
            </a:r>
            <a:br>
              <a:rPr lang="en-US" dirty="0"/>
            </a:br>
            <a:endParaRPr lang="en-US" dirty="0"/>
          </a:p>
          <a:p>
            <a:r>
              <a:rPr lang="en-US" dirty="0"/>
              <a:t>Each model generated predictions on the test set.</a:t>
            </a:r>
            <a:br>
              <a:rPr lang="en-US" dirty="0"/>
            </a:br>
            <a:r>
              <a:rPr lang="en-US" dirty="0"/>
              <a:t>Models were compared based on accuracy and error values.</a:t>
            </a:r>
            <a:br>
              <a:rPr lang="en-US" dirty="0"/>
            </a:br>
            <a:endParaRPr lang="en-US" dirty="0"/>
          </a:p>
          <a:p>
            <a:r>
              <a:rPr lang="en-US" dirty="0"/>
              <a:t>Python libraries </a:t>
            </a:r>
            <a:r>
              <a:rPr lang="en-US" dirty="0" err="1"/>
              <a:t>numpy</a:t>
            </a:r>
            <a:r>
              <a:rPr lang="en-US" dirty="0"/>
              <a:t>, pandas, matplotlib and </a:t>
            </a:r>
            <a:r>
              <a:rPr lang="en-US" dirty="0" err="1"/>
              <a:t>sklearn</a:t>
            </a:r>
            <a:r>
              <a:rPr lang="en-US" dirty="0"/>
              <a:t> were used throughout the project.</a:t>
            </a:r>
            <a:endParaRPr lang="en-IN" dirty="0"/>
          </a:p>
        </p:txBody>
      </p:sp>
    </p:spTree>
    <p:extLst>
      <p:ext uri="{BB962C8B-B14F-4D97-AF65-F5344CB8AC3E}">
        <p14:creationId xmlns:p14="http://schemas.microsoft.com/office/powerpoint/2010/main" val="304592571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488BB4-DE1B-5736-FB65-EA0D2F85DA1F}"/>
              </a:ext>
            </a:extLst>
          </p:cNvPr>
          <p:cNvSpPr>
            <a:spLocks noGrp="1"/>
          </p:cNvSpPr>
          <p:nvPr>
            <p:ph type="title"/>
          </p:nvPr>
        </p:nvSpPr>
        <p:spPr/>
        <p:txBody>
          <a:bodyPr/>
          <a:lstStyle/>
          <a:p>
            <a:r>
              <a:rPr lang="en-IN" dirty="0"/>
              <a:t>Evaluation Metrics</a:t>
            </a:r>
          </a:p>
        </p:txBody>
      </p:sp>
      <p:sp>
        <p:nvSpPr>
          <p:cNvPr id="3" name="Content Placeholder 2">
            <a:extLst>
              <a:ext uri="{FF2B5EF4-FFF2-40B4-BE49-F238E27FC236}">
                <a16:creationId xmlns:a16="http://schemas.microsoft.com/office/drawing/2014/main" id="{C1D5D680-33DE-E7CE-4CEF-EEC06AD857F0}"/>
              </a:ext>
            </a:extLst>
          </p:cNvPr>
          <p:cNvSpPr>
            <a:spLocks noGrp="1"/>
          </p:cNvSpPr>
          <p:nvPr>
            <p:ph idx="1"/>
          </p:nvPr>
        </p:nvSpPr>
        <p:spPr/>
        <p:txBody>
          <a:bodyPr/>
          <a:lstStyle/>
          <a:p>
            <a:r>
              <a:rPr lang="en-US" dirty="0"/>
              <a:t>Two performance measures were used.</a:t>
            </a:r>
            <a:br>
              <a:rPr lang="en-US" dirty="0"/>
            </a:br>
            <a:r>
              <a:rPr lang="en-US" dirty="0"/>
              <a:t>R2 Score which shows how well the model explains salary variations.</a:t>
            </a:r>
            <a:br>
              <a:rPr lang="en-US" dirty="0"/>
            </a:br>
            <a:endParaRPr lang="en-US" dirty="0"/>
          </a:p>
          <a:p>
            <a:r>
              <a:rPr lang="en-US" dirty="0"/>
              <a:t>Mean Squared Error which measures how far predictions are from actual salaries.</a:t>
            </a:r>
            <a:br>
              <a:rPr lang="en-US" dirty="0"/>
            </a:br>
            <a:endParaRPr lang="en-US" dirty="0"/>
          </a:p>
          <a:p>
            <a:r>
              <a:rPr lang="en-US" dirty="0"/>
              <a:t>Lower MSE and higher R2 Score indicate better model performance.</a:t>
            </a:r>
            <a:endParaRPr lang="en-IN" dirty="0"/>
          </a:p>
        </p:txBody>
      </p:sp>
    </p:spTree>
    <p:extLst>
      <p:ext uri="{BB962C8B-B14F-4D97-AF65-F5344CB8AC3E}">
        <p14:creationId xmlns:p14="http://schemas.microsoft.com/office/powerpoint/2010/main" val="322277481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4685C1-8EFB-391F-D6E0-1A1F11F3C44B}"/>
              </a:ext>
            </a:extLst>
          </p:cNvPr>
          <p:cNvSpPr>
            <a:spLocks noGrp="1"/>
          </p:cNvSpPr>
          <p:nvPr>
            <p:ph type="title"/>
          </p:nvPr>
        </p:nvSpPr>
        <p:spPr/>
        <p:txBody>
          <a:bodyPr/>
          <a:lstStyle/>
          <a:p>
            <a:r>
              <a:rPr lang="en-IN" dirty="0"/>
              <a:t>Comparison of Model Performance</a:t>
            </a:r>
          </a:p>
        </p:txBody>
      </p:sp>
      <p:sp>
        <p:nvSpPr>
          <p:cNvPr id="3" name="Content Placeholder 2">
            <a:extLst>
              <a:ext uri="{FF2B5EF4-FFF2-40B4-BE49-F238E27FC236}">
                <a16:creationId xmlns:a16="http://schemas.microsoft.com/office/drawing/2014/main" id="{EA2D0BED-6FA9-44AB-197A-B00881C3497D}"/>
              </a:ext>
            </a:extLst>
          </p:cNvPr>
          <p:cNvSpPr>
            <a:spLocks noGrp="1"/>
          </p:cNvSpPr>
          <p:nvPr>
            <p:ph idx="1"/>
          </p:nvPr>
        </p:nvSpPr>
        <p:spPr>
          <a:xfrm>
            <a:off x="680321" y="2336873"/>
            <a:ext cx="6851189" cy="3599316"/>
          </a:xfrm>
        </p:spPr>
        <p:txBody>
          <a:bodyPr>
            <a:normAutofit fontScale="85000" lnSpcReduction="10000"/>
          </a:bodyPr>
          <a:lstStyle/>
          <a:p>
            <a:r>
              <a:rPr lang="en-US" dirty="0"/>
              <a:t>Random Forest Regression achieved the highest accuracy with the best balance of R2 score and MSE.</a:t>
            </a:r>
            <a:br>
              <a:rPr lang="en-US" dirty="0"/>
            </a:br>
            <a:endParaRPr lang="en-US" dirty="0"/>
          </a:p>
          <a:p>
            <a:r>
              <a:rPr lang="en-US" dirty="0"/>
              <a:t>Polynomial and simple linear regression also performed well with similar results.</a:t>
            </a:r>
            <a:br>
              <a:rPr lang="en-US" dirty="0"/>
            </a:br>
            <a:endParaRPr lang="en-US" dirty="0"/>
          </a:p>
          <a:p>
            <a:r>
              <a:rPr lang="en-US" dirty="0"/>
              <a:t>Support Vector Regression performed moderately well.</a:t>
            </a:r>
            <a:br>
              <a:rPr lang="en-US" dirty="0"/>
            </a:br>
            <a:endParaRPr lang="en-US" dirty="0"/>
          </a:p>
          <a:p>
            <a:r>
              <a:rPr lang="en-US" dirty="0"/>
              <a:t>Multiple Linear Regression gave extremely poor results due to the very high number of encoded features causing overfitting.</a:t>
            </a:r>
            <a:br>
              <a:rPr lang="en-US" dirty="0"/>
            </a:br>
            <a:endParaRPr lang="en-IN" dirty="0"/>
          </a:p>
        </p:txBody>
      </p:sp>
      <p:pic>
        <p:nvPicPr>
          <p:cNvPr id="5" name="Picture 4">
            <a:extLst>
              <a:ext uri="{FF2B5EF4-FFF2-40B4-BE49-F238E27FC236}">
                <a16:creationId xmlns:a16="http://schemas.microsoft.com/office/drawing/2014/main" id="{AB017D30-E677-2582-D338-FB3D6B5E513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384026" y="2336873"/>
            <a:ext cx="4532008" cy="3238017"/>
          </a:xfrm>
          <a:prstGeom prst="rect">
            <a:avLst/>
          </a:prstGeom>
        </p:spPr>
      </p:pic>
    </p:spTree>
    <p:extLst>
      <p:ext uri="{BB962C8B-B14F-4D97-AF65-F5344CB8AC3E}">
        <p14:creationId xmlns:p14="http://schemas.microsoft.com/office/powerpoint/2010/main" val="6906538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2A4DAE-5E90-E871-61CF-322ECD36D202}"/>
              </a:ext>
            </a:extLst>
          </p:cNvPr>
          <p:cNvSpPr>
            <a:spLocks noGrp="1"/>
          </p:cNvSpPr>
          <p:nvPr>
            <p:ph type="title"/>
          </p:nvPr>
        </p:nvSpPr>
        <p:spPr/>
        <p:txBody>
          <a:bodyPr/>
          <a:lstStyle/>
          <a:p>
            <a:r>
              <a:rPr lang="en-IN" dirty="0"/>
              <a:t>Conclusion</a:t>
            </a:r>
          </a:p>
        </p:txBody>
      </p:sp>
      <p:sp>
        <p:nvSpPr>
          <p:cNvPr id="3" name="Content Placeholder 2">
            <a:extLst>
              <a:ext uri="{FF2B5EF4-FFF2-40B4-BE49-F238E27FC236}">
                <a16:creationId xmlns:a16="http://schemas.microsoft.com/office/drawing/2014/main" id="{3D92D88F-E498-6896-1946-2C6FBFE92F0E}"/>
              </a:ext>
            </a:extLst>
          </p:cNvPr>
          <p:cNvSpPr>
            <a:spLocks noGrp="1"/>
          </p:cNvSpPr>
          <p:nvPr>
            <p:ph idx="1"/>
          </p:nvPr>
        </p:nvSpPr>
        <p:spPr/>
        <p:txBody>
          <a:bodyPr>
            <a:normAutofit/>
          </a:bodyPr>
          <a:lstStyle/>
          <a:p>
            <a:r>
              <a:rPr lang="en-US" dirty="0"/>
              <a:t>This project demonstrates how machine learning can be used to predict employee salaries using regression techniques.</a:t>
            </a:r>
            <a:br>
              <a:rPr lang="en-US" dirty="0"/>
            </a:br>
            <a:endParaRPr lang="en-US" dirty="0"/>
          </a:p>
          <a:p>
            <a:r>
              <a:rPr lang="en-US" dirty="0"/>
              <a:t>Random Forest Regression proved to be the most reliable model for this dataset.</a:t>
            </a:r>
            <a:br>
              <a:rPr lang="en-US" dirty="0"/>
            </a:br>
            <a:endParaRPr lang="en-US" dirty="0"/>
          </a:p>
          <a:p>
            <a:r>
              <a:rPr lang="en-US" dirty="0"/>
              <a:t>The system can be extended by adding more data, performing feature selection or optimizing hyperparameters.</a:t>
            </a:r>
            <a:br>
              <a:rPr lang="en-US" dirty="0"/>
            </a:br>
            <a:endParaRPr lang="en-IN" dirty="0"/>
          </a:p>
        </p:txBody>
      </p:sp>
    </p:spTree>
    <p:extLst>
      <p:ext uri="{BB962C8B-B14F-4D97-AF65-F5344CB8AC3E}">
        <p14:creationId xmlns:p14="http://schemas.microsoft.com/office/powerpoint/2010/main" val="211160410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5AAC846E-752A-8DA7-F49E-D3C2E04B882E}"/>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46501"/>
            <a:ext cx="12192000" cy="6858001"/>
          </a:xfrm>
        </p:spPr>
      </p:pic>
    </p:spTree>
    <p:extLst>
      <p:ext uri="{BB962C8B-B14F-4D97-AF65-F5344CB8AC3E}">
        <p14:creationId xmlns:p14="http://schemas.microsoft.com/office/powerpoint/2010/main" val="3775104605"/>
      </p:ext>
    </p:extLst>
  </p:cSld>
  <p:clrMapOvr>
    <a:masterClrMapping/>
  </p:clrMapOvr>
</p:sld>
</file>

<file path=ppt/theme/theme1.xml><?xml version="1.0" encoding="utf-8"?>
<a:theme xmlns:a="http://schemas.openxmlformats.org/drawingml/2006/main" name="Berlin">
  <a:themeElements>
    <a:clrScheme name="Blue Warm">
      <a:dk1>
        <a:sysClr val="windowText" lastClr="000000"/>
      </a:dk1>
      <a:lt1>
        <a:sysClr val="window" lastClr="FFFFFF"/>
      </a:lt1>
      <a:dk2>
        <a:srgbClr val="242852"/>
      </a:dk2>
      <a:lt2>
        <a:srgbClr val="ACCBF9"/>
      </a:lt2>
      <a:accent1>
        <a:srgbClr val="4A66AC"/>
      </a:accent1>
      <a:accent2>
        <a:srgbClr val="629DD1"/>
      </a:accent2>
      <a:accent3>
        <a:srgbClr val="297FD5"/>
      </a:accent3>
      <a:accent4>
        <a:srgbClr val="7F8FA9"/>
      </a:accent4>
      <a:accent5>
        <a:srgbClr val="5AA2AE"/>
      </a:accent5>
      <a:accent6>
        <a:srgbClr val="9D90A0"/>
      </a:accent6>
      <a:hlink>
        <a:srgbClr val="9454C3"/>
      </a:hlink>
      <a:folHlink>
        <a:srgbClr val="3EBBF0"/>
      </a:folHlink>
    </a:clrScheme>
    <a:fontScheme name="Berlin">
      <a:majorFont>
        <a:latin typeface="Trebuchet MS" panose="020B0603020202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rebuchet MS" panose="020B0603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Berlin">
      <a:fillStyleLst>
        <a:solidFill>
          <a:schemeClr val="phClr"/>
        </a:solidFill>
        <a:gradFill rotWithShape="1">
          <a:gsLst>
            <a:gs pos="0">
              <a:schemeClr val="phClr">
                <a:tint val="60000"/>
                <a:satMod val="100000"/>
                <a:lumMod val="110000"/>
              </a:schemeClr>
            </a:gs>
            <a:gs pos="100000">
              <a:schemeClr val="phClr">
                <a:tint val="70000"/>
                <a:satMod val="100000"/>
                <a:lumMod val="100000"/>
              </a:schemeClr>
            </a:gs>
          </a:gsLst>
          <a:lin ang="5400000" scaled="0"/>
        </a:gradFill>
        <a:gradFill rotWithShape="1">
          <a:gsLst>
            <a:gs pos="0">
              <a:schemeClr val="phClr">
                <a:tint val="94000"/>
                <a:satMod val="103000"/>
                <a:lumMod val="102000"/>
              </a:schemeClr>
            </a:gs>
            <a:gs pos="50000">
              <a:schemeClr val="phClr">
                <a:shade val="100000"/>
                <a:satMod val="110000"/>
                <a:lumMod val="100000"/>
              </a:schemeClr>
            </a:gs>
            <a:gs pos="100000">
              <a:schemeClr val="phClr">
                <a:shade val="78000"/>
                <a:satMod val="120000"/>
                <a:lumMod val="99000"/>
              </a:schemeClr>
            </a:gs>
          </a:gsLst>
          <a:lin ang="5400000" scaled="0"/>
        </a:gradFill>
      </a:fillStyleLst>
      <a:lnStyleLst>
        <a:ln w="9525" cap="flat" cmpd="sng" algn="ctr">
          <a:solidFill>
            <a:schemeClr val="phClr"/>
          </a:solidFill>
          <a:prstDash val="solid"/>
        </a:ln>
        <a:ln w="12700"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6000"/>
                <a:shade val="100000"/>
                <a:hueMod val="92000"/>
                <a:satMod val="200000"/>
                <a:lumMod val="128000"/>
              </a:schemeClr>
            </a:gs>
            <a:gs pos="50000">
              <a:schemeClr val="phClr">
                <a:shade val="100000"/>
                <a:hueMod val="100000"/>
                <a:satMod val="110000"/>
                <a:lumMod val="130000"/>
              </a:schemeClr>
            </a:gs>
            <a:gs pos="100000">
              <a:schemeClr val="phClr">
                <a:shade val="78000"/>
                <a:hueMod val="118000"/>
                <a:satMod val="120000"/>
                <a:lumMod val="69000"/>
              </a:schemeClr>
            </a:gs>
          </a:gsLst>
          <a:lin ang="2520000" scaled="0"/>
        </a:gradFill>
      </a:bgFillStyleLst>
    </a:fmtScheme>
  </a:themeElements>
  <a:objectDefaults/>
  <a:extraClrSchemeLst/>
  <a:extLst>
    <a:ext uri="{05A4C25C-085E-4340-85A3-A5531E510DB2}">
      <thm15:themeFamily xmlns:thm15="http://schemas.microsoft.com/office/thememl/2012/main" name="Berlin" id="{7B5DBA9E-B069-418E-9360-A61BDD0615A4}" vid="{C7DC10E3-4FF5-456B-A359-A0F378C1E5F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TM04033917[[fn=Berlin]]</Template>
  <TotalTime>86</TotalTime>
  <Words>544</Words>
  <Application>Microsoft Office PowerPoint</Application>
  <PresentationFormat>Widescreen</PresentationFormat>
  <Paragraphs>43</Paragraphs>
  <Slides>12</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Calibri</vt:lpstr>
      <vt:lpstr>Trebuchet MS</vt:lpstr>
      <vt:lpstr>Berlin</vt:lpstr>
      <vt:lpstr>Salary Prediction Using Machine Learning</vt:lpstr>
      <vt:lpstr>Introductions</vt:lpstr>
      <vt:lpstr>Objective of the Project</vt:lpstr>
      <vt:lpstr>About the Dataset</vt:lpstr>
      <vt:lpstr>Data Preprocessing Steps</vt:lpstr>
      <vt:lpstr>Train-Test Split</vt:lpstr>
      <vt:lpstr>Regression Models Used</vt:lpstr>
      <vt:lpstr>Model Training and Prediction</vt:lpstr>
      <vt:lpstr>Evaluation Metrics</vt:lpstr>
      <vt:lpstr>Comparison of Model Performance</vt:lpstr>
      <vt:lpstr>Conclusion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Suryansh .</dc:creator>
  <cp:lastModifiedBy>Suryansh .</cp:lastModifiedBy>
  <cp:revision>2</cp:revision>
  <dcterms:created xsi:type="dcterms:W3CDTF">2025-11-15T05:28:07Z</dcterms:created>
  <dcterms:modified xsi:type="dcterms:W3CDTF">2025-11-15T07:03:46Z</dcterms:modified>
</cp:coreProperties>
</file>